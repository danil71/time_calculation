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258" r:id="rId2"/>
    <p:sldId id="259" r:id="rId3"/>
    <p:sldId id="260" r:id="rId4"/>
    <p:sldId id="262" r:id="rId5"/>
    <p:sldId id="268" r:id="rId6"/>
    <p:sldId id="264" r:id="rId7"/>
    <p:sldId id="269" r:id="rId8"/>
    <p:sldId id="276" r:id="rId9"/>
    <p:sldId id="278" r:id="rId10"/>
    <p:sldId id="279" r:id="rId11"/>
    <p:sldId id="280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DACAE7D-AF92-2E87-0329-252FA473B2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6C1F04-F6E9-BE92-D770-50E740529C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721BE-3B86-4910-83EE-F1410DB23920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2C16F4-D474-92B0-9518-62D8E6D6CA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FE56F4-4BEB-5317-C86E-04456D8AD2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64AC1-1E3A-47D9-810E-191C7FCCC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0345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070B4-225A-417B-B23B-B047385ABFC0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52B42-AE1C-4708-B68B-80A260C8C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0945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344DA-1CB5-6854-634C-C46652934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018B01-BF72-9FE4-E75C-6724E90ED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1C560D-E307-1E58-8542-276FA9553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9A7AB-B105-42DF-9DF8-69FC84D1A0C5}" type="datetime1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E5D46B-B9EA-6D45-7683-7357E7D67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F6FBD-A342-0327-8663-F5FD8280C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10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96A73-C682-7C69-5A73-E650113C8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6AE47C-D5D0-FC19-7C61-8CC6E2366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87BDF-ED87-6A52-D05E-AD5CB1F2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EEC7-CCAF-414A-8783-E5D030FDDA91}" type="datetime1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5E20C8-47B4-13A8-3D18-221FA3A4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F1227E-2D43-38DF-9D2F-088C87A9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84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D2C26-C721-71BD-7DA6-4C971861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6560C7-68CE-B2AA-6BFD-D58EE03BD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59C1E2-B4AA-F7FE-5967-F1E0E821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47E-0757-4559-A5F0-6F422CB53080}" type="datetime1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6975AE-6944-1A41-6617-0A26FED4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499E06-97D7-8955-CEC2-A9F4FDCD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5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E5995-915E-E693-9C6D-C3D88A1F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3C6C3C-34B2-56EF-BFAF-00A268C5E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9AB889-C374-B1CC-3FB6-400CD5677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AE1356-5ABB-6BBB-B784-653D34E86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301E-1CFA-44E6-9F64-20FF11A2FEF7}" type="datetime1">
              <a:rPr lang="ru-RU" smtClean="0"/>
              <a:t>05.03.2026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FA97AC-AA65-4DD6-D132-E454C55A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DD8C65-2A40-E623-095F-B93A7D14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45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6097E-A7B2-2E3C-11B0-3287DBDAA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2C8CF4-4DAC-0E64-DF7E-69CF28E4A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DD5F0C-3603-60C1-B249-E4D82B2E6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4FA697-C8E6-6DCA-B28B-50ACFC846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1D857C-81C1-E38B-2F1B-4F2EE9B6D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A051D8C-4C48-1398-D2EB-907427E0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948-6A08-40EB-826E-7F04DABA2303}" type="datetime1">
              <a:rPr lang="ru-RU" smtClean="0"/>
              <a:t>05.03.2026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3A2F7F0-6111-3054-D8C0-F778B46EC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34B9F4D-A220-E069-3B7E-5F10C67B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330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640C55-3DA5-90E2-BFFF-A8E8A679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42E0A1-3CFE-389C-EC4E-D15B297B5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1AD-D3AA-441A-BAAA-928AA999C59D}" type="datetime1">
              <a:rPr lang="ru-RU" smtClean="0"/>
              <a:t>05.03.2026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65AB89-00F8-FF75-470B-F1D76F67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C900A24-7C4D-F24B-F86F-5DC65492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99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FB42448-9FBA-EF33-7000-AA230304D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3C98-8406-4D9C-BA1A-F915713A085D}" type="datetime1">
              <a:rPr lang="ru-RU" smtClean="0"/>
              <a:t>05.03.2026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4B290C4-A2C9-5733-79EA-57F3444B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EDBAAE-0084-36D2-4BC1-7BE623C6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4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11F0D-B52E-6452-4CBB-D001C124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3358B7-CF24-0F66-7209-B38990D9D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051409-FBDA-0580-13C2-E90ABDFC6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C064F5-24C2-DB63-3F83-30B8C2E2D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630A6-E7CA-49FA-ADC1-5BAB43E86DE3}" type="datetime1">
              <a:rPr lang="ru-RU" smtClean="0"/>
              <a:t>05.03.2026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B204BD-DCC9-650D-FAC0-01D0B45A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050DBC-B87F-D246-9B7D-92B41477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896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3FB90-5DF3-D1DF-4F0B-362D87529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E62E7EC-2595-B406-D006-E2471B6DE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60EE02-CE5F-B2B7-9D83-A81FD1900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525B7C-321A-F1BE-C8A6-54C52DEC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65B77-C675-4E23-859E-4D154F909C4B}" type="datetime1">
              <a:rPr lang="ru-RU" smtClean="0"/>
              <a:t>05.03.2026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94856D-9C0C-1C52-12B4-DFD21618A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468EEC-EBC4-0FF1-B047-0940DC820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46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BAC43-2A5D-EE69-2BDC-38F880C5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A25C46-C1F5-23FA-F599-010D96291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C2CB03-015F-09CA-0E5F-BCACF18B8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181AE-980E-4233-8102-53BDBA41C11F}" type="datetime1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D2177F-31D3-18C7-8590-CD6B7E07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8F9E4D-D852-8D64-83CD-3796BD76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78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900A34F-225D-D491-A694-D424CF3F2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2FF825-7497-4979-4031-038DA3D28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5F25EE-E888-E22D-F830-CBF4A6B1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D7E1B-2DD1-42A8-B42F-5AF725178BE4}" type="datetime1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C04D53-8135-E621-8C4B-9DD5F610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EBF42F-30F9-93C1-82CE-CF6FE94C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57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309F5-8758-CE3A-6DD8-C5BDE873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EB1148-9FC7-14CE-6B79-E9A011AD7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F89C28-6FC8-9054-6DC1-0DF0DABA9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D7BED-1F17-4A50-8D59-1D3BF6AE119E}" type="datetime1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F9525D-A553-4252-7B76-203B86A22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4C557A-B6D9-AD52-91AD-3598CF502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0EB9B-442E-41EB-8197-B7ED297663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37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 txBox="1"/>
          <p:nvPr/>
        </p:nvSpPr>
        <p:spPr>
          <a:xfrm>
            <a:off x="2058825" y="2174601"/>
            <a:ext cx="8770521" cy="2886941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2903" dirty="0">
                <a:latin typeface="Montserrat Bold" panose="00000800000000000000" pitchFamily="2" charset="-52"/>
              </a:rPr>
              <a:t>«Р</a:t>
            </a:r>
            <a:r>
              <a:rPr lang="ru-RU" altLang="en-US" sz="2903" dirty="0">
                <a:latin typeface="Montserrat Bold" panose="00000800000000000000" pitchFamily="2" charset="-52"/>
              </a:rPr>
              <a:t>азработка программного продукта, для оценки длительности реализации программного средства</a:t>
            </a:r>
            <a:r>
              <a:rPr lang="ru-RU" sz="2903" dirty="0">
                <a:latin typeface="Montserrat Bold" panose="00000800000000000000" pitchFamily="2" charset="-52"/>
              </a:rPr>
              <a:t>»</a:t>
            </a:r>
          </a:p>
          <a:p>
            <a:pPr algn="ctr">
              <a:lnSpc>
                <a:spcPct val="100000"/>
              </a:lnSpc>
            </a:pPr>
            <a:endParaRPr lang="ru-RU" sz="2903" dirty="0">
              <a:latin typeface="Montserrat Bold" panose="00000800000000000000" pitchFamily="2" charset="-52"/>
            </a:endParaRP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5DE69357-7515-B4BC-8B1A-E72B41AA8235}"/>
              </a:ext>
            </a:extLst>
          </p:cNvPr>
          <p:cNvSpPr>
            <a:spLocks noGrp="1"/>
          </p:cNvSpPr>
          <p:nvPr/>
        </p:nvSpPr>
        <p:spPr>
          <a:xfrm>
            <a:off x="7457907" y="4425835"/>
            <a:ext cx="4203459" cy="1691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  <a:spcAft>
                <a:spcPts val="1200"/>
              </a:spcAft>
            </a:pPr>
            <a: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Студент: Путинцев Д.М.</a:t>
            </a:r>
            <a:b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Группа: ПИбд-4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b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Руководитель: </a:t>
            </a:r>
            <a:r>
              <a:rPr lang="ru-RU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Згуральская</a:t>
            </a:r>
            <a: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Е.Н.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1FE77A-5921-AAED-5E53-EA99FC68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/>
          <p:nvPr/>
        </p:nvSpPr>
        <p:spPr>
          <a:xfrm>
            <a:off x="1773387" y="354278"/>
            <a:ext cx="9003825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Актуальность </a:t>
            </a:r>
          </a:p>
        </p:txBody>
      </p:sp>
      <p:sp>
        <p:nvSpPr>
          <p:cNvPr id="13" name="Заголовок 1"/>
          <p:cNvSpPr txBox="1"/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/>
          <p:cNvSpPr txBox="1"/>
          <p:nvPr/>
        </p:nvSpPr>
        <p:spPr>
          <a:xfrm>
            <a:off x="1670271" y="1044974"/>
            <a:ext cx="8874788" cy="4683948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just"/>
            <a:r>
              <a:rPr lang="ru-RU" sz="2177" dirty="0">
                <a:latin typeface="Montserrat" panose="00000500000000000000" pitchFamily="2" charset="-52"/>
                <a:ea typeface="+mj-ea"/>
                <a:cs typeface="+mj-cs"/>
              </a:rPr>
              <a:t>Эффективное планирование сроков и бюджетов является одной из главных проблем в сфере разработки программного обеспечения (ПО). Существующие методы оценки трудоемкости часто опираются на субъективное мнение экспертов, что в условиях высокой неопределенности приводит к ошибкам планирования и финансовым потерям.</a:t>
            </a:r>
          </a:p>
          <a:p>
            <a:pPr lvl="1" algn="just"/>
            <a:endParaRPr lang="ru-RU" sz="2177" dirty="0">
              <a:latin typeface="Montserrat" panose="00000500000000000000" pitchFamily="2" charset="-52"/>
              <a:ea typeface="+mj-ea"/>
              <a:cs typeface="+mj-cs"/>
            </a:endParaRPr>
          </a:p>
          <a:p>
            <a:pPr lvl="1" algn="just"/>
            <a:r>
              <a:rPr lang="ru-RU" sz="2177" dirty="0">
                <a:latin typeface="Montserrat" panose="00000500000000000000" pitchFamily="2" charset="-52"/>
                <a:ea typeface="+mj-ea"/>
                <a:cs typeface="+mj-cs"/>
              </a:rPr>
              <a:t>Внедрение разрабатываемой системы позволит: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177" dirty="0">
                <a:latin typeface="Montserrat" panose="00000500000000000000" pitchFamily="2" charset="-52"/>
                <a:ea typeface="+mj-ea"/>
                <a:cs typeface="+mj-cs"/>
              </a:rPr>
              <a:t>Повысить точность прогнозов: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177" dirty="0">
                <a:latin typeface="Montserrat" panose="00000500000000000000" pitchFamily="2" charset="-52"/>
                <a:ea typeface="+mj-ea"/>
                <a:cs typeface="+mj-cs"/>
              </a:rPr>
              <a:t>Автоматизировать процесс: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177" dirty="0">
                <a:latin typeface="Montserrat" panose="00000500000000000000" pitchFamily="2" charset="-52"/>
                <a:ea typeface="+mj-ea"/>
                <a:cs typeface="+mj-cs"/>
              </a:rPr>
              <a:t>Адаптироваться под команду: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08396F6-AC9E-21BC-70DB-239CDFAD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62C4D-20B3-9E5B-C032-5BBD151F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599" cy="701674"/>
          </a:xfrm>
        </p:spPr>
        <p:txBody>
          <a:bodyPr/>
          <a:lstStyle/>
          <a:p>
            <a:r>
              <a:rPr lang="ru-RU" dirty="0"/>
              <a:t>Обзор аналогов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05A5CA-F713-0962-5564-6350EF64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3</a:t>
            </a:fld>
            <a:endParaRPr lang="ru-RU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58CAFD39-73B3-725D-D62E-97281D87D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43831"/>
              </p:ext>
            </p:extLst>
          </p:nvPr>
        </p:nvGraphicFramePr>
        <p:xfrm>
          <a:off x="647700" y="1066801"/>
          <a:ext cx="10896599" cy="50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44882">
                  <a:extLst>
                    <a:ext uri="{9D8B030D-6E8A-4147-A177-3AD203B41FA5}">
                      <a16:colId xmlns:a16="http://schemas.microsoft.com/office/drawing/2014/main" val="1711589249"/>
                    </a:ext>
                  </a:extLst>
                </a:gridCol>
                <a:gridCol w="1023504">
                  <a:extLst>
                    <a:ext uri="{9D8B030D-6E8A-4147-A177-3AD203B41FA5}">
                      <a16:colId xmlns:a16="http://schemas.microsoft.com/office/drawing/2014/main" val="428474218"/>
                    </a:ext>
                  </a:extLst>
                </a:gridCol>
                <a:gridCol w="1075459">
                  <a:extLst>
                    <a:ext uri="{9D8B030D-6E8A-4147-A177-3AD203B41FA5}">
                      <a16:colId xmlns:a16="http://schemas.microsoft.com/office/drawing/2014/main" val="2058973698"/>
                    </a:ext>
                  </a:extLst>
                </a:gridCol>
                <a:gridCol w="1075459">
                  <a:extLst>
                    <a:ext uri="{9D8B030D-6E8A-4147-A177-3AD203B41FA5}">
                      <a16:colId xmlns:a16="http://schemas.microsoft.com/office/drawing/2014/main" val="1838561848"/>
                    </a:ext>
                  </a:extLst>
                </a:gridCol>
                <a:gridCol w="1075459">
                  <a:extLst>
                    <a:ext uri="{9D8B030D-6E8A-4147-A177-3AD203B41FA5}">
                      <a16:colId xmlns:a16="http://schemas.microsoft.com/office/drawing/2014/main" val="2379186705"/>
                    </a:ext>
                  </a:extLst>
                </a:gridCol>
                <a:gridCol w="1075459">
                  <a:extLst>
                    <a:ext uri="{9D8B030D-6E8A-4147-A177-3AD203B41FA5}">
                      <a16:colId xmlns:a16="http://schemas.microsoft.com/office/drawing/2014/main" val="1696525578"/>
                    </a:ext>
                  </a:extLst>
                </a:gridCol>
                <a:gridCol w="1075459">
                  <a:extLst>
                    <a:ext uri="{9D8B030D-6E8A-4147-A177-3AD203B41FA5}">
                      <a16:colId xmlns:a16="http://schemas.microsoft.com/office/drawing/2014/main" val="551396892"/>
                    </a:ext>
                  </a:extLst>
                </a:gridCol>
                <a:gridCol w="1075459">
                  <a:extLst>
                    <a:ext uri="{9D8B030D-6E8A-4147-A177-3AD203B41FA5}">
                      <a16:colId xmlns:a16="http://schemas.microsoft.com/office/drawing/2014/main" val="3799477933"/>
                    </a:ext>
                  </a:extLst>
                </a:gridCol>
                <a:gridCol w="1075459">
                  <a:extLst>
                    <a:ext uri="{9D8B030D-6E8A-4147-A177-3AD203B41FA5}">
                      <a16:colId xmlns:a16="http://schemas.microsoft.com/office/drawing/2014/main" val="264007436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Критерии сравнения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LinearB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Waydev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Pluralsight Flow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Allstacks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DevDynamics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Haystack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Jira Advanced Roadmaps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Разрабатываемый модуль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297769943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Автоматический сбор данных из Git (без ручного ввода)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57602778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метрик размера (SLOC) и сложности (McCabe)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86715934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Автоматическое профилирование команды (учет стажа и стабильности)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19959922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Прогнозирование итоговых сроков и трудоемкости проекта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14609941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академических математических моделей (COCOMO II)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386390144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ML-калибровка констант прогноза под специфику команды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1292472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27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/>
          <p:nvPr/>
        </p:nvSpPr>
        <p:spPr>
          <a:xfrm>
            <a:off x="1643773" y="155678"/>
            <a:ext cx="9003825" cy="57460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Цель и задачи </a:t>
            </a:r>
          </a:p>
        </p:txBody>
      </p:sp>
      <p:sp>
        <p:nvSpPr>
          <p:cNvPr id="13" name="Заголовок 1"/>
          <p:cNvSpPr txBox="1"/>
          <p:nvPr/>
        </p:nvSpPr>
        <p:spPr>
          <a:xfrm>
            <a:off x="1358622" y="878304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/>
          <p:cNvSpPr txBox="1"/>
          <p:nvPr/>
        </p:nvSpPr>
        <p:spPr>
          <a:xfrm>
            <a:off x="1964816" y="1044886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sp>
        <p:nvSpPr>
          <p:cNvPr id="12" name="Заголовок 1"/>
          <p:cNvSpPr txBox="1"/>
          <p:nvPr/>
        </p:nvSpPr>
        <p:spPr>
          <a:xfrm>
            <a:off x="1669984" y="2521936"/>
            <a:ext cx="8770521" cy="231330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ru-RU" sz="2540" b="1" dirty="0">
                <a:latin typeface="Montserrat Bold" panose="00000800000000000000" pitchFamily="2" charset="-52"/>
              </a:rPr>
              <a:t>Цель</a:t>
            </a:r>
            <a:r>
              <a:rPr lang="en-US" sz="2540" b="1" dirty="0">
                <a:latin typeface="Montserrat Bold" panose="00000800000000000000" pitchFamily="2" charset="-52"/>
              </a:rPr>
              <a:t> </a:t>
            </a:r>
            <a:r>
              <a:rPr lang="ru-RU" sz="2540" b="1" dirty="0">
                <a:latin typeface="Montserrat Bold" panose="00000800000000000000" pitchFamily="2" charset="-52"/>
              </a:rPr>
              <a:t>проекта</a:t>
            </a:r>
            <a:r>
              <a:rPr lang="en-US" sz="2540" b="1" dirty="0">
                <a:latin typeface="Montserrat Bold" panose="00000800000000000000" pitchFamily="2" charset="-52"/>
              </a:rPr>
              <a:t>:</a:t>
            </a:r>
            <a:r>
              <a:rPr lang="ru-RU" sz="2540" b="1" dirty="0">
                <a:latin typeface="Montserrat Bold" panose="00000800000000000000" pitchFamily="2" charset="-52"/>
              </a:rPr>
              <a:t> </a:t>
            </a:r>
            <a:r>
              <a:rPr lang="ru-RU" altLang="en-US" sz="2177" dirty="0">
                <a:latin typeface="Montserrat" panose="00000500000000000000" pitchFamily="2" charset="-52"/>
              </a:rPr>
              <a:t>разработать программный модуль с веб-интерфейсом для оценки длительности реализации программного средства, направленная на повышение экономической эффективности проектного управления за счет минимизации рисков срыва сроков (</a:t>
            </a:r>
            <a:r>
              <a:rPr lang="ru-RU" altLang="en-US" sz="2177" dirty="0" err="1">
                <a:latin typeface="Montserrat" panose="00000500000000000000" pitchFamily="2" charset="-52"/>
              </a:rPr>
              <a:t>deadline</a:t>
            </a:r>
            <a:r>
              <a:rPr lang="ru-RU" altLang="en-US" sz="2177" dirty="0">
                <a:latin typeface="Montserrat" panose="00000500000000000000" pitchFamily="2" charset="-52"/>
              </a:rPr>
              <a:t>) и оптимизации бюджета проекта</a:t>
            </a:r>
            <a:endParaRPr lang="en-US" sz="2540" dirty="0">
              <a:latin typeface="Montserrat Bold" panose="00000800000000000000" pitchFamily="2" charset="-52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F6A8392-0823-49D4-A37E-6E0AF613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0972-2AF5-608C-EA24-BC049FB1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9D439F2-90B1-33FE-B01A-7DE22CB97A66}"/>
              </a:ext>
            </a:extLst>
          </p:cNvPr>
          <p:cNvSpPr txBox="1">
            <a:spLocks/>
          </p:cNvSpPr>
          <p:nvPr/>
        </p:nvSpPr>
        <p:spPr>
          <a:xfrm>
            <a:off x="1643773" y="103833"/>
            <a:ext cx="9003825" cy="57460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Цель и задачи 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9B63902-4E4E-C585-84A6-9911E7943266}"/>
              </a:ext>
            </a:extLst>
          </p:cNvPr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E7404D3-0A89-C082-F742-706ADD412B08}"/>
              </a:ext>
            </a:extLst>
          </p:cNvPr>
          <p:cNvSpPr txBox="1">
            <a:spLocks/>
          </p:cNvSpPr>
          <p:nvPr/>
        </p:nvSpPr>
        <p:spPr>
          <a:xfrm>
            <a:off x="1964816" y="1044886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E5810FF-8445-92DB-6478-E53BEDE766A5}"/>
              </a:ext>
            </a:extLst>
          </p:cNvPr>
          <p:cNvSpPr txBox="1">
            <a:spLocks/>
          </p:cNvSpPr>
          <p:nvPr/>
        </p:nvSpPr>
        <p:spPr>
          <a:xfrm>
            <a:off x="1643773" y="824510"/>
            <a:ext cx="9003824" cy="52714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  <a:spcAft>
                <a:spcPts val="544"/>
              </a:spcAft>
            </a:pPr>
            <a:r>
              <a:rPr lang="ru-RU" sz="2000" b="1" dirty="0">
                <a:latin typeface="Montserrat" panose="00000500000000000000" pitchFamily="2" charset="-52"/>
              </a:rPr>
              <a:t>Задачи</a:t>
            </a:r>
            <a:r>
              <a:rPr lang="en-US" sz="2000" b="1" dirty="0">
                <a:latin typeface="Montserrat" panose="00000500000000000000" pitchFamily="2" charset="-52"/>
              </a:rPr>
              <a:t>: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latin typeface="Montserrat" panose="00000500000000000000" pitchFamily="2" charset="-52"/>
              </a:rPr>
              <a:t>Провести исследование существующих инструментов и моделей оценки трудозатрат и сроков разработки программного обеспечения.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latin typeface="Montserrat" panose="00000500000000000000" pitchFamily="2" charset="-52"/>
              </a:rPr>
              <a:t>Обосновать актуальность и целесообразность разработки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latin typeface="Montserrat" panose="00000500000000000000" pitchFamily="2" charset="-52"/>
              </a:rPr>
              <a:t>Определить основные параметры, влияющие на длительность разработки (размер кода, сложность, опыт исполнителя, технология, методология и т.д.).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latin typeface="Montserrat" panose="00000500000000000000" pitchFamily="2" charset="-52"/>
              </a:rPr>
              <a:t>Сформулировать функциональные и нефункциональные требования к разрабатываемой системе.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latin typeface="Montserrat" panose="00000500000000000000" pitchFamily="2" charset="-52"/>
              </a:rPr>
              <a:t>Обосновать экономическую эффективность решение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latin typeface="Montserrat" panose="00000500000000000000" pitchFamily="2" charset="-52"/>
              </a:rPr>
              <a:t>Спроектировать методику профилирования команды разработки на основе истории коммитов для расчета коэффициентов квалификации и стабильности.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latin typeface="Montserrat" panose="00000500000000000000" pitchFamily="2" charset="-52"/>
              </a:rPr>
              <a:t>Разработать архитектуру и реализовать программный комплекс, включающий модуль интеграции с </a:t>
            </a:r>
            <a:r>
              <a:rPr lang="ru-RU" sz="1600" dirty="0" err="1">
                <a:latin typeface="Montserrat" panose="00000500000000000000" pitchFamily="2" charset="-52"/>
              </a:rPr>
              <a:t>Git</a:t>
            </a:r>
            <a:r>
              <a:rPr lang="ru-RU" sz="1600" dirty="0">
                <a:latin typeface="Montserrat" panose="00000500000000000000" pitchFamily="2" charset="-52"/>
              </a:rPr>
              <a:t>, модуль математических расчетов и веб-интерфейс визуализации.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latin typeface="Montserrat" panose="00000500000000000000" pitchFamily="2" charset="-52"/>
              </a:rPr>
              <a:t>Реализовать механизм машинного обучения для автоматической калибровки констант математической модели на основе исторических данных.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latin typeface="Montserrat" panose="00000500000000000000" pitchFamily="2" charset="-52"/>
              </a:rPr>
              <a:t>Провести тестирование разработанной системы и оценить точность прогнозирования на примере реальных проектов с открытым исходным кодом.</a:t>
            </a:r>
          </a:p>
          <a:p>
            <a:pPr algn="l">
              <a:lnSpc>
                <a:spcPct val="100000"/>
              </a:lnSpc>
            </a:pPr>
            <a:endParaRPr lang="en-US" sz="2540" dirty="0">
              <a:latin typeface="Montserrat Bold" panose="00000800000000000000" pitchFamily="2" charset="-52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987F6DD-5604-42EE-458B-7DDD9705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44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Стек технологий  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546855-3CB4-459D-B3AA-F97CD7757D4B}"/>
              </a:ext>
            </a:extLst>
          </p:cNvPr>
          <p:cNvSpPr txBox="1">
            <a:spLocks/>
          </p:cNvSpPr>
          <p:nvPr/>
        </p:nvSpPr>
        <p:spPr>
          <a:xfrm>
            <a:off x="-233466" y="459605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8C47383-C2F7-4687-BB75-0CB775887909}"/>
              </a:ext>
            </a:extLst>
          </p:cNvPr>
          <p:cNvSpPr txBox="1">
            <a:spLocks/>
          </p:cNvSpPr>
          <p:nvPr/>
        </p:nvSpPr>
        <p:spPr>
          <a:xfrm>
            <a:off x="1544403" y="1067754"/>
            <a:ext cx="9271693" cy="4989247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ru-RU" sz="2177" dirty="0">
                <a:latin typeface="Montserrat" panose="00000500000000000000"/>
              </a:rPr>
              <a:t>ОС: семейство </a:t>
            </a:r>
            <a:r>
              <a:rPr lang="en-US" sz="2177" dirty="0">
                <a:latin typeface="Montserrat" panose="00000500000000000000"/>
              </a:rPr>
              <a:t>Linux (Debian, Ubuntu, Astra Linux)</a:t>
            </a:r>
            <a:endParaRPr lang="ru-RU" sz="2177" dirty="0">
              <a:latin typeface="Montserrat" panose="00000500000000000000"/>
            </a:endParaRPr>
          </a:p>
          <a:p>
            <a:pPr lvl="0" algn="l"/>
            <a:r>
              <a:rPr lang="ru-RU" sz="2177" dirty="0">
                <a:latin typeface="Montserrat" panose="00000500000000000000"/>
              </a:rPr>
              <a:t>СУБД: </a:t>
            </a:r>
            <a:r>
              <a:rPr lang="ru-RU" sz="2177" dirty="0" err="1">
                <a:latin typeface="Montserrat" panose="00000500000000000000"/>
              </a:rPr>
              <a:t>PostgreSQL</a:t>
            </a:r>
            <a:endParaRPr lang="ru-RU" sz="2177" dirty="0">
              <a:latin typeface="Montserrat" panose="00000500000000000000"/>
            </a:endParaRPr>
          </a:p>
          <a:p>
            <a:pPr lvl="0" algn="l"/>
            <a:endParaRPr lang="ru-RU" sz="2177" dirty="0">
              <a:latin typeface="Montserrat" panose="00000500000000000000"/>
            </a:endParaRPr>
          </a:p>
          <a:p>
            <a:pPr lvl="0" algn="l"/>
            <a:r>
              <a:rPr lang="ru-RU" sz="2177" dirty="0">
                <a:latin typeface="Montserrat" panose="00000500000000000000"/>
              </a:rPr>
              <a:t>Серверная часть:</a:t>
            </a:r>
          </a:p>
          <a:p>
            <a:pPr marL="414772" indent="-414772" algn="l">
              <a:buFont typeface="Arial" panose="020B0604020202020204" pitchFamily="34" charset="0"/>
              <a:buChar char="•"/>
            </a:pPr>
            <a:r>
              <a:rPr lang="ru-RU" sz="2177" dirty="0">
                <a:latin typeface="Montserrat" panose="00000500000000000000"/>
              </a:rPr>
              <a:t>Язык программирования: </a:t>
            </a:r>
            <a:r>
              <a:rPr lang="en-US" sz="2177" dirty="0">
                <a:latin typeface="Montserrat" panose="00000500000000000000"/>
              </a:rPr>
              <a:t>Java</a:t>
            </a:r>
            <a:r>
              <a:rPr lang="ru-RU" sz="2177" dirty="0">
                <a:latin typeface="Montserrat" panose="00000500000000000000"/>
              </a:rPr>
              <a:t>;</a:t>
            </a:r>
          </a:p>
          <a:p>
            <a:pPr marL="414772" indent="-414772" algn="l">
              <a:buFont typeface="Arial" panose="020B0604020202020204" pitchFamily="34" charset="0"/>
              <a:buChar char="•"/>
            </a:pPr>
            <a:r>
              <a:rPr lang="en-US" sz="2177" dirty="0">
                <a:latin typeface="Montserrat" panose="00000500000000000000"/>
              </a:rPr>
              <a:t>Spring Boot Framework</a:t>
            </a:r>
            <a:r>
              <a:rPr lang="ru-RU" sz="2177" dirty="0">
                <a:latin typeface="Montserrat" panose="00000500000000000000"/>
              </a:rPr>
              <a:t>.</a:t>
            </a:r>
          </a:p>
          <a:p>
            <a:pPr marL="414772" indent="-414772" algn="l">
              <a:buFont typeface="Arial" panose="020B0604020202020204" pitchFamily="34" charset="0"/>
              <a:buChar char="•"/>
            </a:pPr>
            <a:endParaRPr lang="ru-RU" sz="2177" dirty="0">
              <a:latin typeface="Montserrat" panose="00000500000000000000"/>
            </a:endParaRPr>
          </a:p>
          <a:p>
            <a:pPr lvl="0" algn="l"/>
            <a:r>
              <a:rPr lang="ru-RU" sz="2177" dirty="0">
                <a:latin typeface="Montserrat" panose="00000500000000000000"/>
              </a:rPr>
              <a:t>Клиентская часть:</a:t>
            </a:r>
          </a:p>
          <a:p>
            <a:pPr marL="414772" indent="-414772" algn="l">
              <a:buFont typeface="Arial" panose="020B0604020202020204" pitchFamily="34" charset="0"/>
              <a:buChar char="•"/>
            </a:pPr>
            <a:r>
              <a:rPr lang="ru-RU" sz="2177" dirty="0">
                <a:latin typeface="Montserrat" panose="00000500000000000000"/>
              </a:rPr>
              <a:t>Язык программирования: </a:t>
            </a:r>
            <a:r>
              <a:rPr lang="en-US" sz="2177" dirty="0">
                <a:latin typeface="Montserrat" panose="00000500000000000000"/>
              </a:rPr>
              <a:t>TypeScript</a:t>
            </a:r>
            <a:r>
              <a:rPr lang="ru-RU" sz="2177" dirty="0">
                <a:latin typeface="Montserrat" panose="00000500000000000000"/>
              </a:rPr>
              <a:t>;</a:t>
            </a:r>
          </a:p>
          <a:p>
            <a:pPr marL="414772" indent="-414772" algn="l">
              <a:buFont typeface="Arial" panose="020B0604020202020204" pitchFamily="34" charset="0"/>
              <a:buChar char="•"/>
            </a:pPr>
            <a:r>
              <a:rPr lang="en-US" sz="2177" dirty="0">
                <a:latin typeface="Montserrat" panose="00000500000000000000"/>
              </a:rPr>
              <a:t>React</a:t>
            </a:r>
            <a:r>
              <a:rPr lang="ru-RU" sz="2177" dirty="0">
                <a:latin typeface="Montserrat" panose="00000500000000000000"/>
              </a:rPr>
              <a:t>.</a:t>
            </a:r>
            <a:endParaRPr lang="ru-RU" sz="2540" dirty="0">
              <a:latin typeface="Montserrat" panose="00000500000000000000"/>
            </a:endParaRPr>
          </a:p>
          <a:p>
            <a:pPr marL="414772" indent="-414772" algn="l">
              <a:buFont typeface="Arial" panose="020B0604020202020204" pitchFamily="34" charset="0"/>
              <a:buChar char="•"/>
            </a:pPr>
            <a:endParaRPr lang="ru-RU" sz="2540" dirty="0">
              <a:latin typeface="Montserrat" panose="0000050000000000000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0EAB96E-236F-46B3-BFD0-7D3D42A7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195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Диаграмма вариантов использования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546855-3CB4-459D-B3AA-F97CD7757D4B}"/>
              </a:ext>
            </a:extLst>
          </p:cNvPr>
          <p:cNvSpPr txBox="1">
            <a:spLocks/>
          </p:cNvSpPr>
          <p:nvPr/>
        </p:nvSpPr>
        <p:spPr>
          <a:xfrm>
            <a:off x="-233466" y="459605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CE5C2A5-D514-4725-E0E1-1DD01E270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6" y="878994"/>
            <a:ext cx="10800784" cy="597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CD0935B-949A-164A-6E37-8BBF0137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53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600" dirty="0">
                <a:latin typeface="Montserrat" panose="00000500000000000000" pitchFamily="2" charset="-52"/>
              </a:rPr>
              <a:t>ER-</a:t>
            </a:r>
            <a:r>
              <a:rPr lang="ru-RU" sz="3600" dirty="0">
                <a:latin typeface="Montserrat" panose="00000500000000000000" pitchFamily="2" charset="-52"/>
              </a:rPr>
              <a:t>диаграмма</a:t>
            </a:r>
            <a:endParaRPr lang="ru-RU" sz="3266" dirty="0"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0AA2C0-4A8C-9E2E-7A8B-F5C66C7F9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198" y="1320126"/>
            <a:ext cx="3877216" cy="3077004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диаграмм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3CACD29-B8B2-1C5A-E97D-B5F179ADA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755" y="1177480"/>
            <a:ext cx="2171367" cy="433654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C3A35E-0C4E-32D1-B60A-C49DB0B2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680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546855-3CB4-459D-B3AA-F97CD7757D4B}"/>
              </a:ext>
            </a:extLst>
          </p:cNvPr>
          <p:cNvSpPr txBox="1">
            <a:spLocks/>
          </p:cNvSpPr>
          <p:nvPr/>
        </p:nvSpPr>
        <p:spPr>
          <a:xfrm>
            <a:off x="-233466" y="459605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AD39E3-6B1A-4AC7-FA23-D9629E719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558" y="1462641"/>
            <a:ext cx="4267796" cy="3134162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F98B882-113E-A39F-FA89-776E0E0C6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85" y="1317049"/>
            <a:ext cx="2017384" cy="402902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2C333-7067-3E01-6E5C-A666ADACE941}"/>
              </a:ext>
            </a:extLst>
          </p:cNvPr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600" dirty="0">
                <a:latin typeface="Montserrat" panose="00000500000000000000" pitchFamily="2" charset="-52"/>
              </a:rPr>
              <a:t>ER-</a:t>
            </a:r>
            <a:r>
              <a:rPr lang="ru-RU" sz="3600" dirty="0">
                <a:latin typeface="Montserrat" panose="00000500000000000000" pitchFamily="2" charset="-52"/>
              </a:rPr>
              <a:t>диаграмма</a:t>
            </a:r>
            <a:endParaRPr lang="ru-RU" sz="3266" dirty="0">
              <a:latin typeface="Montserrat" panose="00000500000000000000" pitchFamily="2" charset="-5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4EA07A8-ED04-C481-F928-1CD79202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368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546855-3CB4-459D-B3AA-F97CD7757D4B}"/>
              </a:ext>
            </a:extLst>
          </p:cNvPr>
          <p:cNvSpPr txBox="1">
            <a:spLocks/>
          </p:cNvSpPr>
          <p:nvPr/>
        </p:nvSpPr>
        <p:spPr>
          <a:xfrm>
            <a:off x="-233466" y="459605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A6E533-F115-58FE-5B9F-BE31DEC52D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78"/>
          <a:stretch/>
        </p:blipFill>
        <p:spPr>
          <a:xfrm>
            <a:off x="5176263" y="1645920"/>
            <a:ext cx="2772162" cy="307569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E508123-A4F7-1165-2BCA-5DA332BBF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901" y="1177480"/>
            <a:ext cx="2144572" cy="428303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10E78-54A2-9D11-53A2-A44186EE62D3}"/>
              </a:ext>
            </a:extLst>
          </p:cNvPr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600" dirty="0">
                <a:latin typeface="Montserrat" panose="00000500000000000000" pitchFamily="2" charset="-52"/>
              </a:rPr>
              <a:t>ER-</a:t>
            </a:r>
            <a:r>
              <a:rPr lang="ru-RU" sz="3600" dirty="0">
                <a:latin typeface="Montserrat" panose="00000500000000000000" pitchFamily="2" charset="-52"/>
              </a:rPr>
              <a:t>диаграмма</a:t>
            </a:r>
            <a:endParaRPr lang="ru-RU" sz="3266" dirty="0">
              <a:latin typeface="Montserrat" panose="00000500000000000000" pitchFamily="2" charset="-5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8DBACD-0C47-C1D0-C639-808ABF6D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494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0972-2AF5-608C-EA24-BC049FB1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9D439F2-90B1-33FE-B01A-7DE22CB97A66}"/>
              </a:ext>
            </a:extLst>
          </p:cNvPr>
          <p:cNvSpPr txBox="1">
            <a:spLocks/>
          </p:cNvSpPr>
          <p:nvPr/>
        </p:nvSpPr>
        <p:spPr>
          <a:xfrm>
            <a:off x="1643773" y="103833"/>
            <a:ext cx="9003825" cy="57460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Выполненные</a:t>
            </a:r>
            <a:r>
              <a:rPr lang="ru-RU" sz="3266" dirty="0">
                <a:solidFill>
                  <a:srgbClr val="004892"/>
                </a:solidFill>
                <a:latin typeface="Montserrat" panose="00000500000000000000" pitchFamily="2" charset="-52"/>
              </a:rPr>
              <a:t> </a:t>
            </a:r>
            <a:r>
              <a:rPr lang="ru-RU" sz="3266" dirty="0">
                <a:latin typeface="Montserrat" panose="00000500000000000000" pitchFamily="2" charset="-52"/>
              </a:rPr>
              <a:t>задачи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9B63902-4E4E-C585-84A6-9911E7943266}"/>
              </a:ext>
            </a:extLst>
          </p:cNvPr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E7404D3-0A89-C082-F742-706ADD412B08}"/>
              </a:ext>
            </a:extLst>
          </p:cNvPr>
          <p:cNvSpPr txBox="1">
            <a:spLocks/>
          </p:cNvSpPr>
          <p:nvPr/>
        </p:nvSpPr>
        <p:spPr>
          <a:xfrm>
            <a:off x="1964816" y="1044886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E5810FF-8445-92DB-6478-E53BEDE766A5}"/>
              </a:ext>
            </a:extLst>
          </p:cNvPr>
          <p:cNvSpPr txBox="1">
            <a:spLocks/>
          </p:cNvSpPr>
          <p:nvPr/>
        </p:nvSpPr>
        <p:spPr>
          <a:xfrm>
            <a:off x="1643773" y="824510"/>
            <a:ext cx="8999504" cy="51425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  <a:spcAft>
                <a:spcPts val="544"/>
              </a:spcAft>
            </a:pPr>
            <a:r>
              <a:rPr lang="ru-RU" sz="1633" b="1" dirty="0">
                <a:latin typeface="Montserrat" panose="00000500000000000000" pitchFamily="2" charset="-52"/>
              </a:rPr>
              <a:t>Задачи</a:t>
            </a:r>
            <a:r>
              <a:rPr lang="en-US" sz="1633" b="1" dirty="0">
                <a:latin typeface="Montserrat" panose="00000500000000000000" pitchFamily="2" charset="-52"/>
              </a:rPr>
              <a:t>: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270" dirty="0">
                <a:solidFill>
                  <a:srgbClr val="C00000"/>
                </a:solidFill>
                <a:latin typeface="Montserrat" panose="00000500000000000000" pitchFamily="2" charset="-52"/>
              </a:rPr>
              <a:t>Провести исследование существующих инструментов и моделей оценки трудозатрат и сроков разработки программного обеспечения.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270" dirty="0">
                <a:solidFill>
                  <a:srgbClr val="C00000"/>
                </a:solidFill>
                <a:latin typeface="Montserrat" panose="00000500000000000000" pitchFamily="2" charset="-52"/>
              </a:rPr>
              <a:t>Обосновать актуальность и целесообразность разработки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270" dirty="0">
                <a:solidFill>
                  <a:srgbClr val="C00000"/>
                </a:solidFill>
                <a:latin typeface="Montserrat" panose="00000500000000000000" pitchFamily="2" charset="-52"/>
              </a:rPr>
              <a:t>Определить основные параметры, влияющие на длительность разработки (размер кода, сложность, опыт исполнителя, технология, методология и т.д.).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270" dirty="0">
                <a:solidFill>
                  <a:srgbClr val="C00000"/>
                </a:solidFill>
                <a:latin typeface="Montserrat" panose="00000500000000000000" pitchFamily="2" charset="-52"/>
              </a:rPr>
              <a:t>Сформулировать функциональные и нефункциональные требования к разрабатываемой системе.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270" dirty="0">
                <a:latin typeface="Montserrat" panose="00000500000000000000" pitchFamily="2" charset="-52"/>
              </a:rPr>
              <a:t>Обосновать экономическую эффективность решение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270" dirty="0">
                <a:latin typeface="Montserrat" panose="00000500000000000000" pitchFamily="2" charset="-52"/>
              </a:rPr>
              <a:t>Спроектировать методику профилирования команды разработки на основе истории коммитов для расчета коэффициентов квалификации и стабильности.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270" dirty="0">
                <a:latin typeface="Montserrat" panose="00000500000000000000" pitchFamily="2" charset="-52"/>
              </a:rPr>
              <a:t>Разработать архитектуру и реализовать программный комплекс, включающий модуль интеграции с </a:t>
            </a:r>
            <a:r>
              <a:rPr lang="ru-RU" sz="1270" dirty="0" err="1">
                <a:latin typeface="Montserrat" panose="00000500000000000000" pitchFamily="2" charset="-52"/>
              </a:rPr>
              <a:t>Git</a:t>
            </a:r>
            <a:r>
              <a:rPr lang="ru-RU" sz="1270" dirty="0">
                <a:latin typeface="Montserrat" panose="00000500000000000000" pitchFamily="2" charset="-52"/>
              </a:rPr>
              <a:t>, модуль математических расчетов и веб-интерфейс визуализации.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270" dirty="0">
                <a:latin typeface="Montserrat" panose="00000500000000000000" pitchFamily="2" charset="-52"/>
              </a:rPr>
              <a:t>Реализовать механизм машинного обучения для автоматической калибровки констант математической модели на основе исторических данных.</a:t>
            </a:r>
          </a:p>
          <a:p>
            <a:pPr marL="311079" indent="-311079" algn="just">
              <a:lnSpc>
                <a:spcPct val="114000"/>
              </a:lnSpc>
              <a:buFont typeface="+mj-lt"/>
              <a:buAutoNum type="arabicPeriod"/>
            </a:pPr>
            <a:r>
              <a:rPr lang="ru-RU" sz="1270" dirty="0">
                <a:latin typeface="Montserrat" panose="00000500000000000000" pitchFamily="2" charset="-52"/>
              </a:rPr>
              <a:t>Провести тестирование разработанной системы и оценить точность прогнозирования на примере реальных проектов с открытым исходным кодом.</a:t>
            </a:r>
          </a:p>
          <a:p>
            <a:pPr algn="l">
              <a:lnSpc>
                <a:spcPct val="100000"/>
              </a:lnSpc>
            </a:pPr>
            <a:endParaRPr lang="en-US" sz="2540" dirty="0">
              <a:latin typeface="Montserrat Bold" panose="00000800000000000000" pitchFamily="2" charset="-52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ECDDBB6-2856-07AA-CF56-21536AD2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714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687173" y="2138379"/>
            <a:ext cx="7301567" cy="2084213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ru-RU" sz="4355" dirty="0">
                <a:latin typeface="Montserrat Bold" panose="00000800000000000000" pitchFamily="2" charset="-52"/>
              </a:rPr>
              <a:t>Спасибо за внимание!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49E27B9-C83D-411C-B815-4FCBA63B9B67}"/>
              </a:ext>
            </a:extLst>
          </p:cNvPr>
          <p:cNvSpPr txBox="1">
            <a:spLocks/>
          </p:cNvSpPr>
          <p:nvPr/>
        </p:nvSpPr>
        <p:spPr>
          <a:xfrm>
            <a:off x="1773387" y="1663179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ru-RU" sz="127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10360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Диаграмма классов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546855-3CB4-459D-B3AA-F97CD7757D4B}"/>
              </a:ext>
            </a:extLst>
          </p:cNvPr>
          <p:cNvSpPr txBox="1">
            <a:spLocks/>
          </p:cNvSpPr>
          <p:nvPr/>
        </p:nvSpPr>
        <p:spPr>
          <a:xfrm>
            <a:off x="-233466" y="459605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B27711A-EE9B-3FAD-0A11-2FA63939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18" y="1501711"/>
            <a:ext cx="10710564" cy="408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6C484B-5E4E-95C7-A670-AB3049B4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850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Диаграмма состояний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546855-3CB4-459D-B3AA-F97CD7757D4B}"/>
              </a:ext>
            </a:extLst>
          </p:cNvPr>
          <p:cNvSpPr txBox="1">
            <a:spLocks/>
          </p:cNvSpPr>
          <p:nvPr/>
        </p:nvSpPr>
        <p:spPr>
          <a:xfrm>
            <a:off x="-233466" y="459605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DC2E70-7EFF-563A-0D9D-A885C0FE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356" y="888057"/>
            <a:ext cx="5287287" cy="503396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4EDCAAC-CD0C-D774-BF70-0948E4EE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79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Диаграмма состояний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546855-3CB4-459D-B3AA-F97CD7757D4B}"/>
              </a:ext>
            </a:extLst>
          </p:cNvPr>
          <p:cNvSpPr txBox="1">
            <a:spLocks/>
          </p:cNvSpPr>
          <p:nvPr/>
        </p:nvSpPr>
        <p:spPr>
          <a:xfrm>
            <a:off x="-233466" y="459605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4DC7AB-5991-C362-A5BD-72772AACD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799" y="841851"/>
            <a:ext cx="7386402" cy="505433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80D278-C6B4-617B-84DE-66D4EF6F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064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Диаграмма компонентов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546855-3CB4-459D-B3AA-F97CD7757D4B}"/>
              </a:ext>
            </a:extLst>
          </p:cNvPr>
          <p:cNvSpPr txBox="1">
            <a:spLocks/>
          </p:cNvSpPr>
          <p:nvPr/>
        </p:nvSpPr>
        <p:spPr>
          <a:xfrm>
            <a:off x="-233466" y="459605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C01641B-84AA-EDFE-49E3-DD9DC69EB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389" y="1177480"/>
            <a:ext cx="6763222" cy="443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9A480DE-A8A0-6919-7074-5BE110EA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34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1712900" y="144795"/>
            <a:ext cx="9003825" cy="608149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266" dirty="0">
                <a:latin typeface="Montserrat" panose="00000500000000000000" pitchFamily="2" charset="-52"/>
              </a:rPr>
              <a:t>Диаграмма развертывания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648094" y="1177480"/>
            <a:ext cx="8770521" cy="4501590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sz="1814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546855-3CB4-459D-B3AA-F97CD7757D4B}"/>
              </a:ext>
            </a:extLst>
          </p:cNvPr>
          <p:cNvSpPr txBox="1">
            <a:spLocks/>
          </p:cNvSpPr>
          <p:nvPr/>
        </p:nvSpPr>
        <p:spPr>
          <a:xfrm>
            <a:off x="-233466" y="459605"/>
            <a:ext cx="7301567" cy="2084213"/>
          </a:xfrm>
          <a:prstGeom prst="rect">
            <a:avLst/>
          </a:prstGeom>
        </p:spPr>
        <p:txBody>
          <a:bodyPr vert="horz" lIns="82953" tIns="41476" rIns="82953" bIns="41476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6930" lvl="1" indent="-622158">
              <a:buFont typeface="Arial" panose="020B0604020202020204" pitchFamily="34" charset="0"/>
              <a:buChar char="•"/>
            </a:pPr>
            <a:endParaRPr lang="ru-RU" sz="1633" dirty="0">
              <a:solidFill>
                <a:srgbClr val="0070C0"/>
              </a:solidFill>
              <a:latin typeface="Montserrat Bold" panose="0000080000000000000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D43AF6C-1C5B-217E-C799-9FC9C10E2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468" y="998320"/>
            <a:ext cx="6374687" cy="485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A3D3932-0A3A-2385-90ED-DDE0FF86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EB9B-442E-41EB-8197-B7ED297663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2120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581</Words>
  <Application>Microsoft Office PowerPoint</Application>
  <PresentationFormat>Широкоэкранный</PresentationFormat>
  <Paragraphs>134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Montserrat</vt:lpstr>
      <vt:lpstr>Montserrat Bold</vt:lpstr>
      <vt:lpstr>Times New Roman</vt:lpstr>
      <vt:lpstr>Verdana</vt:lpstr>
      <vt:lpstr>Тема Office</vt:lpstr>
      <vt:lpstr>Презентация PowerPoint</vt:lpstr>
      <vt:lpstr>Презентация PowerPoint</vt:lpstr>
      <vt:lpstr>Обзор аналогов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Даниил Путинцев</dc:creator>
  <cp:lastModifiedBy>Даниил Путинцев</cp:lastModifiedBy>
  <cp:revision>16</cp:revision>
  <dcterms:created xsi:type="dcterms:W3CDTF">2025-12-21T22:39:50Z</dcterms:created>
  <dcterms:modified xsi:type="dcterms:W3CDTF">2026-03-05T02:44:23Z</dcterms:modified>
</cp:coreProperties>
</file>